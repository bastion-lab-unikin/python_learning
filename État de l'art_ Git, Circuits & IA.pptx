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F85AD8-2EC5-44F2-A34D-B605924F29E0}">
  <a:tblStyle styleId="{C7F85AD8-2EC5-44F2-A34D-B605924F29E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745" autoAdjust="0"/>
  </p:normalViewPr>
  <p:slideViewPr>
    <p:cSldViewPr snapToGrid="0">
      <p:cViewPr>
        <p:scale>
          <a:sx n="25" d="100"/>
          <a:sy n="25" d="100"/>
        </p:scale>
        <p:origin x="592" y="3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MPIRE SEMAYOBERE" userId="0bd27a2634d859ca" providerId="LiveId" clId="{ED2630D0-15A4-4F07-A702-76D4248643F2}"/>
    <pc:docChg chg="custSel modSld">
      <pc:chgData name="BAMPIRE SEMAYOBERE" userId="0bd27a2634d859ca" providerId="LiveId" clId="{ED2630D0-15A4-4F07-A702-76D4248643F2}" dt="2026-02-01T19:17:41.704" v="803" actId="14100"/>
      <pc:docMkLst>
        <pc:docMk/>
      </pc:docMkLst>
      <pc:sldChg chg="modSp mod">
        <pc:chgData name="BAMPIRE SEMAYOBERE" userId="0bd27a2634d859ca" providerId="LiveId" clId="{ED2630D0-15A4-4F07-A702-76D4248643F2}" dt="2026-02-01T18:09:20.242" v="14" actId="1038"/>
        <pc:sldMkLst>
          <pc:docMk/>
          <pc:sldMk cId="0" sldId="256"/>
        </pc:sldMkLst>
        <pc:spChg chg="mod">
          <ac:chgData name="BAMPIRE SEMAYOBERE" userId="0bd27a2634d859ca" providerId="LiveId" clId="{ED2630D0-15A4-4F07-A702-76D4248643F2}" dt="2026-02-01T18:09:20.242" v="14" actId="1038"/>
          <ac:spMkLst>
            <pc:docMk/>
            <pc:sldMk cId="0" sldId="256"/>
            <ac:spMk id="89" creationId="{00000000-0000-0000-0000-000000000000}"/>
          </ac:spMkLst>
        </pc:spChg>
        <pc:picChg chg="mod">
          <ac:chgData name="BAMPIRE SEMAYOBERE" userId="0bd27a2634d859ca" providerId="LiveId" clId="{ED2630D0-15A4-4F07-A702-76D4248643F2}" dt="2026-02-01T18:09:19.044" v="13" actId="1038"/>
          <ac:picMkLst>
            <pc:docMk/>
            <pc:sldMk cId="0" sldId="256"/>
            <ac:picMk id="88" creationId="{00000000-0000-0000-0000-000000000000}"/>
          </ac:picMkLst>
        </pc:picChg>
      </pc:sldChg>
      <pc:sldChg chg="modNotesTx">
        <pc:chgData name="BAMPIRE SEMAYOBERE" userId="0bd27a2634d859ca" providerId="LiveId" clId="{ED2630D0-15A4-4F07-A702-76D4248643F2}" dt="2026-02-01T18:21:47.798" v="96" actId="20577"/>
        <pc:sldMkLst>
          <pc:docMk/>
          <pc:sldMk cId="0" sldId="257"/>
        </pc:sldMkLst>
      </pc:sldChg>
      <pc:sldChg chg="modSp mod">
        <pc:chgData name="BAMPIRE SEMAYOBERE" userId="0bd27a2634d859ca" providerId="LiveId" clId="{ED2630D0-15A4-4F07-A702-76D4248643F2}" dt="2026-02-01T18:10:18.062" v="15" actId="1038"/>
        <pc:sldMkLst>
          <pc:docMk/>
          <pc:sldMk cId="0" sldId="258"/>
        </pc:sldMkLst>
        <pc:picChg chg="mod">
          <ac:chgData name="BAMPIRE SEMAYOBERE" userId="0bd27a2634d859ca" providerId="LiveId" clId="{ED2630D0-15A4-4F07-A702-76D4248643F2}" dt="2026-02-01T18:10:18.062" v="15" actId="1038"/>
          <ac:picMkLst>
            <pc:docMk/>
            <pc:sldMk cId="0" sldId="258"/>
            <ac:picMk id="118" creationId="{00000000-0000-0000-0000-000000000000}"/>
          </ac:picMkLst>
        </pc:picChg>
      </pc:sldChg>
      <pc:sldChg chg="modNotesTx">
        <pc:chgData name="BAMPIRE SEMAYOBERE" userId="0bd27a2634d859ca" providerId="LiveId" clId="{ED2630D0-15A4-4F07-A702-76D4248643F2}" dt="2026-02-01T18:23:13.985" v="114" actId="20577"/>
        <pc:sldMkLst>
          <pc:docMk/>
          <pc:sldMk cId="0" sldId="259"/>
        </pc:sldMkLst>
      </pc:sldChg>
      <pc:sldChg chg="modNotesTx">
        <pc:chgData name="BAMPIRE SEMAYOBERE" userId="0bd27a2634d859ca" providerId="LiveId" clId="{ED2630D0-15A4-4F07-A702-76D4248643F2}" dt="2026-02-01T18:27:34.888" v="471" actId="20577"/>
        <pc:sldMkLst>
          <pc:docMk/>
          <pc:sldMk cId="0" sldId="260"/>
        </pc:sldMkLst>
      </pc:sldChg>
      <pc:sldChg chg="modNotesTx">
        <pc:chgData name="BAMPIRE SEMAYOBERE" userId="0bd27a2634d859ca" providerId="LiveId" clId="{ED2630D0-15A4-4F07-A702-76D4248643F2}" dt="2026-02-01T18:45:12.989" v="557" actId="20577"/>
        <pc:sldMkLst>
          <pc:docMk/>
          <pc:sldMk cId="0" sldId="261"/>
        </pc:sldMkLst>
      </pc:sldChg>
      <pc:sldChg chg="addSp modSp modNotes modNotesTx">
        <pc:chgData name="BAMPIRE SEMAYOBERE" userId="0bd27a2634d859ca" providerId="LiveId" clId="{ED2630D0-15A4-4F07-A702-76D4248643F2}" dt="2026-02-01T19:05:34.738" v="784" actId="313"/>
        <pc:sldMkLst>
          <pc:docMk/>
          <pc:sldMk cId="0" sldId="266"/>
        </pc:sldMkLst>
        <pc:picChg chg="add mod">
          <ac:chgData name="BAMPIRE SEMAYOBERE" userId="0bd27a2634d859ca" providerId="LiveId" clId="{ED2630D0-15A4-4F07-A702-76D4248643F2}" dt="2026-02-01T18:06:48.337" v="0"/>
          <ac:picMkLst>
            <pc:docMk/>
            <pc:sldMk cId="0" sldId="266"/>
            <ac:picMk id="2" creationId="{23EA5B15-31BD-BEB0-4A4B-FAB534AADDBE}"/>
          </ac:picMkLst>
        </pc:picChg>
      </pc:sldChg>
      <pc:sldChg chg="addSp modSp mod modNotes">
        <pc:chgData name="BAMPIRE SEMAYOBERE" userId="0bd27a2634d859ca" providerId="LiveId" clId="{ED2630D0-15A4-4F07-A702-76D4248643F2}" dt="2026-02-01T19:17:41.704" v="803" actId="14100"/>
        <pc:sldMkLst>
          <pc:docMk/>
          <pc:sldMk cId="0" sldId="267"/>
        </pc:sldMkLst>
        <pc:spChg chg="add mod">
          <ac:chgData name="BAMPIRE SEMAYOBERE" userId="0bd27a2634d859ca" providerId="LiveId" clId="{ED2630D0-15A4-4F07-A702-76D4248643F2}" dt="2026-02-01T19:16:32.225" v="794" actId="14100"/>
          <ac:spMkLst>
            <pc:docMk/>
            <pc:sldMk cId="0" sldId="267"/>
            <ac:spMk id="3" creationId="{B002848E-76A5-B8B7-F0E7-2D0D22C46123}"/>
          </ac:spMkLst>
        </pc:spChg>
        <pc:spChg chg="add mod">
          <ac:chgData name="BAMPIRE SEMAYOBERE" userId="0bd27a2634d859ca" providerId="LiveId" clId="{ED2630D0-15A4-4F07-A702-76D4248643F2}" dt="2026-02-01T19:16:32.225" v="794" actId="14100"/>
          <ac:spMkLst>
            <pc:docMk/>
            <pc:sldMk cId="0" sldId="267"/>
            <ac:spMk id="4" creationId="{1A9000FA-353E-6667-29C9-820A8FFDDD21}"/>
          </ac:spMkLst>
        </pc:spChg>
        <pc:picChg chg="add mod">
          <ac:chgData name="BAMPIRE SEMAYOBERE" userId="0bd27a2634d859ca" providerId="LiveId" clId="{ED2630D0-15A4-4F07-A702-76D4248643F2}" dt="2026-02-01T19:16:32.225" v="794" actId="14100"/>
          <ac:picMkLst>
            <pc:docMk/>
            <pc:sldMk cId="0" sldId="267"/>
            <ac:picMk id="2" creationId="{D489572F-3C22-4E30-C857-15ADF37F2B7F}"/>
          </ac:picMkLst>
        </pc:picChg>
        <pc:picChg chg="add mod">
          <ac:chgData name="BAMPIRE SEMAYOBERE" userId="0bd27a2634d859ca" providerId="LiveId" clId="{ED2630D0-15A4-4F07-A702-76D4248643F2}" dt="2026-02-01T19:17:41.704" v="803" actId="14100"/>
          <ac:picMkLst>
            <pc:docMk/>
            <pc:sldMk cId="0" sldId="267"/>
            <ac:picMk id="6" creationId="{A29335B0-D716-A6C9-17B8-A3A8B917024B}"/>
          </ac:picMkLst>
        </pc:picChg>
      </pc:sldChg>
      <pc:sldChg chg="addSp modSp mod modNotes">
        <pc:chgData name="BAMPIRE SEMAYOBERE" userId="0bd27a2634d859ca" providerId="LiveId" clId="{ED2630D0-15A4-4F07-A702-76D4248643F2}" dt="2026-02-01T18:18:58.484" v="19" actId="14100"/>
        <pc:sldMkLst>
          <pc:docMk/>
          <pc:sldMk cId="0" sldId="268"/>
        </pc:sldMkLst>
        <pc:picChg chg="add mod">
          <ac:chgData name="BAMPIRE SEMAYOBERE" userId="0bd27a2634d859ca" providerId="LiveId" clId="{ED2630D0-15A4-4F07-A702-76D4248643F2}" dt="2026-02-01T18:18:58.484" v="19" actId="14100"/>
          <ac:picMkLst>
            <pc:docMk/>
            <pc:sldMk cId="0" sldId="268"/>
            <ac:picMk id="2" creationId="{FCAF6F0E-6630-0F20-89C4-20D3DB3FA7F5}"/>
          </ac:picMkLst>
        </pc:picChg>
      </pc:sldChg>
      <pc:sldChg chg="modSp mod">
        <pc:chgData name="BAMPIRE SEMAYOBERE" userId="0bd27a2634d859ca" providerId="LiveId" clId="{ED2630D0-15A4-4F07-A702-76D4248643F2}" dt="2026-02-01T18:08:41.243" v="11" actId="1038"/>
        <pc:sldMkLst>
          <pc:docMk/>
          <pc:sldMk cId="0" sldId="269"/>
        </pc:sldMkLst>
        <pc:picChg chg="mod">
          <ac:chgData name="BAMPIRE SEMAYOBERE" userId="0bd27a2634d859ca" providerId="LiveId" clId="{ED2630D0-15A4-4F07-A702-76D4248643F2}" dt="2026-02-01T18:08:41.243" v="11" actId="1038"/>
          <ac:picMkLst>
            <pc:docMk/>
            <pc:sldMk cId="0" sldId="269"/>
            <ac:picMk id="29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Dans les projets informatiques modernes, la gestion du code est essentielle.</a:t>
            </a:r>
            <a:br>
              <a:rPr lang="fr-FR" dirty="0"/>
            </a:br>
            <a:r>
              <a:rPr lang="fr-FR" dirty="0"/>
              <a:t>Git et GitHub sont aujourd’hui des standards industriels qui permettent de suivre les modifications et de travailler efficacement en équipe.</a:t>
            </a:r>
            <a:br>
              <a:rPr lang="fr-FR" dirty="0"/>
            </a:br>
            <a:r>
              <a:rPr lang="fr-FR" dirty="0"/>
              <a:t>Cette partie présente leur rôle et leur complémentarité.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Git est un système de gestion de versions distribué qui fonctionne localement sur la machine du développeur.</a:t>
            </a:r>
            <a:br>
              <a:rPr lang="fr-FR" dirty="0"/>
            </a:br>
            <a:r>
              <a:rPr lang="fr-FR" dirty="0"/>
              <a:t>Il permet de conserver l’historique complet du code et de revenir à une version précédente en cas d’erreur. (comme l’avait dit l’ingénieur </a:t>
            </a:r>
            <a:r>
              <a:rPr lang="fr-FR" dirty="0" err="1"/>
              <a:t>Marex</a:t>
            </a:r>
            <a:r>
              <a:rPr lang="fr-FR" dirty="0"/>
              <a:t> lors de la </a:t>
            </a:r>
            <a:r>
              <a:rPr lang="fr-FR" dirty="0" err="1"/>
              <a:t>reunion</a:t>
            </a:r>
            <a:r>
              <a:rPr lang="fr-FR" dirty="0"/>
              <a:t> )</a:t>
            </a:r>
            <a:br>
              <a:rPr lang="fr-FR" dirty="0"/>
            </a:br>
            <a:r>
              <a:rPr lang="fr-FR" dirty="0"/>
              <a:t>Son fonctionnement local garantit une grande autonomie.</a:t>
            </a: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GitHub est une plateforme cloud qui héberge des dépôts Git.</a:t>
            </a:r>
            <a:br>
              <a:rPr lang="fr-FR" dirty="0"/>
            </a:br>
            <a:r>
              <a:rPr lang="fr-FR" dirty="0"/>
              <a:t>Elle facilite le partage du code, la collaboration et la gestion de projets.</a:t>
            </a:r>
            <a:br>
              <a:rPr lang="fr-FR" dirty="0"/>
            </a:br>
            <a:r>
              <a:rPr lang="fr-FR" dirty="0"/>
              <a:t>C’est également un outil central pour le développement open source.</a:t>
            </a:r>
            <a:endParaRPr dirty="0"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Ces outils, Git et GitHub assurent un versioning robuste et évitent la perte de code.</a:t>
            </a:r>
            <a:br>
              <a:rPr lang="fr-FR" dirty="0"/>
            </a:br>
            <a:r>
              <a:rPr lang="fr-FR" dirty="0"/>
              <a:t>Ils offrent une sécurité grâce aux sauvegardes multiples et améliorent l’organisation du cycle de développement.</a:t>
            </a:r>
            <a:br>
              <a:rPr lang="fr-FR" dirty="0"/>
            </a:br>
            <a:r>
              <a:rPr lang="fr-FR" dirty="0"/>
              <a:t>Leur usage est devenu incontournable dans les projets modernes.</a:t>
            </a:r>
            <a:endParaRPr dirty="0"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Comme pour notre projet qui a 6 branches,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Ces branches permettent de développer des fonctionnalités en parallèle sans perturber le projet principal. ( donc chacun peut travailler de son coté sans avoir à </a:t>
            </a:r>
            <a:r>
              <a:rPr lang="fr-FR" dirty="0" err="1"/>
              <a:t>deranger</a:t>
            </a:r>
            <a:r>
              <a:rPr lang="fr-FR" dirty="0"/>
              <a:t> le projet principal, comme l’avait dit l’ingénieur qui allait à la fin </a:t>
            </a:r>
            <a:r>
              <a:rPr lang="fr-FR" dirty="0" err="1"/>
              <a:t>verifier</a:t>
            </a:r>
            <a:r>
              <a:rPr lang="fr-FR" dirty="0"/>
              <a:t> nos branches et choisir le bon fichier à ajouter dans la branche principale qui est le projet en soit 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dirty="0"/>
            </a:br>
            <a:r>
              <a:rPr lang="fr-FR" dirty="0"/>
              <a:t>Les pull </a:t>
            </a:r>
            <a:r>
              <a:rPr lang="fr-FR" dirty="0" err="1"/>
              <a:t>requests</a:t>
            </a:r>
            <a:r>
              <a:rPr lang="fr-FR" dirty="0"/>
              <a:t> servent à proposer et valider les modifications.</a:t>
            </a:r>
            <a:br>
              <a:rPr lang="fr-FR" dirty="0"/>
            </a:br>
            <a:r>
              <a:rPr lang="fr-FR" dirty="0"/>
              <a:t>La fusion garantit une intégration contrôlée du code.</a:t>
            </a:r>
            <a:endParaRPr dirty="0"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systèmes électroniques reposent sur deux types de circuits : analogiques et numériques.</a:t>
            </a:r>
            <a:br>
              <a:rPr lang="fr-FR" dirty="0"/>
            </a:br>
            <a:r>
              <a:rPr lang="fr-FR" dirty="0"/>
              <a:t>Ils se distinguent par la nature du signal qu’ils traitent. Analogique et numérique comme on l’avait vu lors de la réunion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dirty="0"/>
            </a:br>
            <a:r>
              <a:rPr lang="fr-FR" dirty="0"/>
              <a:t>Dans les systèmes modernes, ces deux approches coexistent.</a:t>
            </a: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 circuit analogique traite des signaux continus qui varient de manière fluide.</a:t>
            </a:r>
            <a:br>
              <a:rPr lang="fr-FR" dirty="0"/>
            </a:br>
            <a:r>
              <a:rPr lang="fr-FR" dirty="0"/>
              <a:t>Il représente fidèlement les grandeurs physiques réelles.</a:t>
            </a:r>
            <a:br>
              <a:rPr lang="fr-FR" dirty="0"/>
            </a:br>
            <a:r>
              <a:rPr lang="fr-FR" dirty="0"/>
              <a:t>En revanche, il est sensible au bruit et aux perturbations.</a:t>
            </a:r>
            <a:endParaRPr dirty="0"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circuits numériques utilisent des signaux discrets, généralement codés en 0 et 1.</a:t>
            </a:r>
            <a:br>
              <a:rPr lang="fr-FR" dirty="0"/>
            </a:br>
            <a:r>
              <a:rPr lang="fr-FR" dirty="0"/>
              <a:t>Ils sont à la base de l’informatique moderne.</a:t>
            </a:r>
            <a:br>
              <a:rPr lang="fr-FR" dirty="0"/>
            </a:br>
            <a:r>
              <a:rPr lang="fr-FR" dirty="0"/>
              <a:t>Leur principal avantage est leur robustesse face au bruit.</a:t>
            </a:r>
            <a:endParaRPr dirty="0"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différence clé réside dans la nature du signal : continu pour l’analogique, discret pour le numérique.</a:t>
            </a:r>
            <a:br>
              <a:rPr lang="fr-FR" dirty="0"/>
            </a:br>
            <a:r>
              <a:rPr lang="fr-FR" dirty="0"/>
              <a:t>Les circuits numériques offrent une meilleure fiabilité, tandis que les analogiques sont plus proches du monde réel.</a:t>
            </a:r>
            <a:br>
              <a:rPr lang="fr-FR" dirty="0"/>
            </a:br>
            <a:r>
              <a:rPr lang="fr-FR" dirty="0"/>
              <a:t>Le choix dépend de l’application visée.</a:t>
            </a:r>
            <a:endParaRPr dirty="0"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circuits analogiques sont utilisés pour l’audio et les capteurs physiques.</a:t>
            </a:r>
            <a:br>
              <a:rPr lang="fr-FR" dirty="0"/>
            </a:br>
            <a:r>
              <a:rPr lang="fr-FR" dirty="0"/>
              <a:t>Les circuits numériques dominent dans les ordinateurs et systèmes embarqués.</a:t>
            </a:r>
            <a:br>
              <a:rPr lang="fr-FR" dirty="0"/>
            </a:br>
            <a:r>
              <a:rPr lang="fr-FR" dirty="0"/>
              <a:t>Les systèmes modernes sont souvent mixtes, utilisant des convertisseurs CAN et CNA.</a:t>
            </a:r>
            <a:endParaRPr dirty="0"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L’ingénierie moderne s’appuie sur des outils avancés pour concevoir et valider les systèmes.</a:t>
            </a:r>
            <a:br>
              <a:rPr lang="fr-FR" dirty="0"/>
            </a:br>
            <a:r>
              <a:rPr lang="fr-FR" dirty="0"/>
              <a:t>La simulation et l’intelligence artificielle jouent un rôle clé.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Notamment la simulation pour valider le circuit avant de le construire et l’IA comme assistant à la conception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dirty="0"/>
            </a:br>
            <a:r>
              <a:rPr lang="fr-FR" dirty="0"/>
              <a:t>Ces outils augmentent les capacités de l’ingénieur quand ils sont bien utilisés</a:t>
            </a:r>
            <a:endParaRPr dirty="0"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SPICE est un outil standard de simulation de circuits électroniques.</a:t>
            </a:r>
            <a:br>
              <a:rPr lang="fr-FR" dirty="0"/>
            </a:br>
            <a:r>
              <a:rPr lang="fr-FR" dirty="0"/>
              <a:t>Il permet d’analyser le comportement théorique d’un circuit avant sa fabrication.</a:t>
            </a:r>
            <a:br>
              <a:rPr lang="fr-FR" dirty="0"/>
            </a:br>
            <a:r>
              <a:rPr lang="fr-FR" dirty="0"/>
              <a:t>Le flux typique va du schéma à la simulation via une </a:t>
            </a:r>
            <a:r>
              <a:rPr lang="fr-FR" dirty="0" err="1"/>
              <a:t>netlist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simulation permet de gagner du temps en évitant des prototypes physiques inutiles.</a:t>
            </a:r>
            <a:br>
              <a:rPr lang="fr-FR" dirty="0"/>
            </a:br>
            <a:r>
              <a:rPr lang="fr-FR" dirty="0"/>
              <a:t>Elle réduit les coûts et facilite le débogage.</a:t>
            </a:r>
            <a:br>
              <a:rPr lang="fr-FR" dirty="0"/>
            </a:br>
            <a:r>
              <a:rPr lang="fr-FR" dirty="0"/>
              <a:t>Elle donne accès à des mesures difficiles à obtenir en conditions réelles</a:t>
            </a:r>
            <a:endParaRPr dirty="0"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LLM sont des modèles d’intelligence artificielle spécialisés dans le traitement du langage.</a:t>
            </a:r>
            <a:br>
              <a:rPr lang="fr-FR" dirty="0"/>
            </a:br>
            <a:r>
              <a:rPr lang="fr-FR" dirty="0"/>
              <a:t>Ils peuvent comprendre et synthétiser des informations techniques complexes.</a:t>
            </a:r>
            <a:br>
              <a:rPr lang="fr-FR" dirty="0"/>
            </a:br>
            <a:r>
              <a:rPr lang="fr-FR" dirty="0"/>
              <a:t>Leur entraînement repose sur de très grandes quantités de données.</a:t>
            </a:r>
            <a:endParaRPr dirty="0"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Les LLM assistent l’ingénieur dans la documentation et l’analyse technique.</a:t>
            </a:r>
            <a:br>
              <a:rPr lang="fr-FR" dirty="0"/>
            </a:br>
            <a:r>
              <a:rPr lang="fr-FR" dirty="0"/>
              <a:t>Ils peuvent aider à la conception et à l’explication de code ou de scripts SPICE.</a:t>
            </a:r>
            <a:br>
              <a:rPr lang="fr-FR" dirty="0"/>
            </a:br>
            <a:r>
              <a:rPr lang="fr-FR" dirty="0"/>
              <a:t>L’IA devient ainsi un outil d’aide, et non un substitut à l’ingénieur.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0" name="Google Shape;3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Partie 1 : Git &amp; GitHub (Introduction)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8209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13342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 du code source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Suivi précis des modifications.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Travail collaboratif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Coordination entre développeurs.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industriel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Outil incontournable.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Git : Le moteur local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Système de versioning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Décentralisé et rapide.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Historique complet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Retour en arrière possible (v1 → v2).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Travail local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Indépendant de la connexion internet.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GitHub : Le hub collaboratif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66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Plateforme Cloud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Hébergement centralisé des dépôts.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Partage de projets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Visibilité et Open Source.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Outils d'équipe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Code review et gestion de projet.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Pourquoi ces outils ?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Versioning robuste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Évite la perte de code.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Sécurité &amp; Backup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Copies multiples du projet.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Organisation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Cycle clair : Dev → Test → Version.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Mécanismes de collaboration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Branches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Développement parallèle isolé.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Pull Requests (PR)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Proposition et validation de changements.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Fusion (Merge)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Intégration du code validé.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Partie 2 : Circuits Électroniques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Deux mondes distincts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Analogique vs Numérique.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Traitement du signal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Approches physiques différentes.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Complémentarité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Coexistence dans les systèmes modernes.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Circuit Analogique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904875" y="2228105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Signal Continu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Variation fluide dans le temps.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04875" y="3258591"/>
            <a:ext cx="4905375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Fidélité physique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Représente directement la grandeur mesurée.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04875" y="4685258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Sensibilité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Vulnérable au bruit et parasites.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2190005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3220491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4647158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Circuit Numérique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Signal Discret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Valeurs quantifiées (0 ou 1).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Logique Binaire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Base de l'informatique moderne.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Robustesse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Facile à stocker et reproduire sans erreur.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Comparaison Technique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571500" y="2005161"/>
          <a:ext cx="11049000" cy="3933500"/>
        </p:xfrm>
        <a:graphic>
          <a:graphicData uri="http://schemas.openxmlformats.org/drawingml/2006/table">
            <a:tbl>
              <a:tblPr firstRow="1" bandRow="1">
                <a:noFill/>
                <a:tableStyleId>{C7F85AD8-2EC5-44F2-A34D-B605924F29E0}</a:tableStyleId>
              </a:tblPr>
              <a:tblGrid>
                <a:gridCol w="266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2C3E5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Critère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2C3E5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Analogique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2C3E50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Numérique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Nature du signal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 (Infini de valeurs)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Discret (0 et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Bruit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Très sensible (Dégradation)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Robuste (Correction d'erreur)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Précision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Limitée par les composants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Dépend du nombre de bits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Difficile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Facile et compact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8" name="Google Shape;208;p21"/>
          <p:cNvSpPr/>
          <p:nvPr/>
        </p:nvSpPr>
        <p:spPr>
          <a:xfrm>
            <a:off x="571500" y="2777579"/>
            <a:ext cx="266967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241178" y="2777579"/>
            <a:ext cx="4044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286178" y="2777579"/>
            <a:ext cx="43343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3564284"/>
            <a:ext cx="266967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241178" y="3564284"/>
            <a:ext cx="4044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7286178" y="3564284"/>
            <a:ext cx="43343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4350990"/>
            <a:ext cx="266967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241178" y="4350990"/>
            <a:ext cx="4044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286178" y="4350990"/>
            <a:ext cx="43343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5137695"/>
            <a:ext cx="266967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241178" y="5137695"/>
            <a:ext cx="4044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286178" y="5137695"/>
            <a:ext cx="43343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5924401"/>
            <a:ext cx="266967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241178" y="5924401"/>
            <a:ext cx="4044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7286178" y="5924401"/>
            <a:ext cx="433432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Domaines d'Application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04875" y="2228105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Analogique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Audio, Capteurs (température, pression).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04875" y="3258591"/>
            <a:ext cx="4905375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Numérique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Ordinateurs, Smartphones, Systèmes embarqués.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04875" y="4685258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Systèmes Mixtes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Conversion CAN/CNA indispensable.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2190005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3220491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4647158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Partie 3 : Nouveaux Outils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Simulation avancée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Valider avant de construire.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Intelligence Artificielle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Assistance à la conception.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Synergie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L'ingénieur augmenté par ses outils.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2" name="Google Shape;248;p24" descr="image.png">
            <a:extLst>
              <a:ext uri="{FF2B5EF4-FFF2-40B4-BE49-F238E27FC236}">
                <a16:creationId xmlns:a16="http://schemas.microsoft.com/office/drawing/2014/main" id="{23EA5B15-31BD-BEB0-4A4B-FAB534AADDB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965870"/>
            <a:ext cx="5334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SPICE : Simulation de Circuits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904875" y="2228105"/>
            <a:ext cx="4905375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Simulation standard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Simulation Program with Integrated Circuit Emphasis.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904875" y="365477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Analyse prédictive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Comportement électrique théorique.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904875" y="4685258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Flux de travail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Schéma → Netlist → Simulation.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2190005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361667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4647158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2" name="Google Shape;226;p22" descr="image.png">
            <a:extLst>
              <a:ext uri="{FF2B5EF4-FFF2-40B4-BE49-F238E27FC236}">
                <a16:creationId xmlns:a16="http://schemas.microsoft.com/office/drawing/2014/main" id="{D489572F-3C22-4E30-C857-15ADF37F2B7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1085850"/>
            <a:ext cx="6237514" cy="56006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Image générée">
            <a:extLst>
              <a:ext uri="{FF2B5EF4-FFF2-40B4-BE49-F238E27FC236}">
                <a16:creationId xmlns:a16="http://schemas.microsoft.com/office/drawing/2014/main" id="{B002848E-76A5-B8B7-F0E7-2D0D22C461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D"/>
          </a:p>
        </p:txBody>
      </p:sp>
      <p:sp>
        <p:nvSpPr>
          <p:cNvPr id="4" name="AutoShape 4" descr="Image générée">
            <a:extLst>
              <a:ext uri="{FF2B5EF4-FFF2-40B4-BE49-F238E27FC236}">
                <a16:creationId xmlns:a16="http://schemas.microsoft.com/office/drawing/2014/main" id="{1A9000FA-353E-6667-29C9-820A8FFDDD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335B0-D716-A6C9-17B8-A3A8B9170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1085850"/>
            <a:ext cx="6524625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Pourquoi simuler ?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Gain de temps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Itérations rapides sans soudure.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Réduction des coûts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Moins de prototypes physiques ratés.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Débogage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Accès à des mesures impossibles en réel.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2" name="Google Shape;248;p24" descr="image.png">
            <a:extLst>
              <a:ext uri="{FF2B5EF4-FFF2-40B4-BE49-F238E27FC236}">
                <a16:creationId xmlns:a16="http://schemas.microsoft.com/office/drawing/2014/main" id="{FCAF6F0E-6630-0F20-89C4-20D3DB3FA7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1085850"/>
            <a:ext cx="62198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LLM : L'IA Générative</a:t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8617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Compréhension du langage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Traitement de texte technique complexe.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Synthèse de connaissances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Accès rapide aux datasheets.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Modèles massifs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Entraînés sur des milliards de paramètres.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L'IA au service de l'Ingénieur</a:t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383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904875" y="2426196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Aide à la documentation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Génération et résumé de rapports.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904875" y="3456682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Assistant de conception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Suggestion de composants ou de code.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904875" y="4487167"/>
            <a:ext cx="4905375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Explication de code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Décryptage de scripts SPICE ou Python.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571500" y="23880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571500" y="341858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571500" y="444906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19" name="Google Shape;319;p2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71500" y="165735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71500" y="244212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71500" y="32268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71500" y="40116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71500" y="479643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571500" y="1619250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6" name="Google Shape;326;p28"/>
          <p:cNvSpPr/>
          <p:nvPr/>
        </p:nvSpPr>
        <p:spPr>
          <a:xfrm>
            <a:off x="571500" y="2432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571500" y="2432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571500" y="2404020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9" name="Google Shape;329;p28"/>
          <p:cNvSpPr/>
          <p:nvPr/>
        </p:nvSpPr>
        <p:spPr>
          <a:xfrm>
            <a:off x="571500" y="32173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571500" y="32173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571500" y="3188791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2" name="Google Shape;332;p28"/>
          <p:cNvSpPr/>
          <p:nvPr/>
        </p:nvSpPr>
        <p:spPr>
          <a:xfrm>
            <a:off x="571500" y="4002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571500" y="4002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571500" y="397356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571500" y="47869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571500" y="47869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571500" y="4758332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571500" y="5571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71500" y="5571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 txBox="1"/>
          <p:nvPr/>
        </p:nvSpPr>
        <p:spPr>
          <a:xfrm>
            <a:off x="571500" y="5543103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341" name="Google Shape;34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67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/>
        </p:nvSpPr>
        <p:spPr>
          <a:xfrm>
            <a:off x="1666875" y="180022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https://media.geeksforgeeks.org/wp-content/uploads/20220214111138/GitHubFlow.jpg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1666875" y="20459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344" name="Google Shape;34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91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1666875" y="258499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https://nvie.com/img/main-branches@2x.png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1666875" y="28307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nvie.com</a:t>
            </a:r>
            <a:endParaRPr/>
          </a:p>
        </p:txBody>
      </p:sp>
      <p:pic>
        <p:nvPicPr>
          <p:cNvPr id="347" name="Google Shape;34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763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8"/>
          <p:cNvSpPr txBox="1"/>
          <p:nvPr/>
        </p:nvSpPr>
        <p:spPr>
          <a:xfrm>
            <a:off x="1666875" y="3369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https://github.blog/wp-content/uploads/2024/09/image2_d60746.png?w=1024&amp;resize=1024%2C529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1666875" y="36154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github.blog</a:t>
            </a:r>
            <a:endParaRPr/>
          </a:p>
        </p:txBody>
      </p:sp>
      <p:pic>
        <p:nvPicPr>
          <p:cNvPr id="350" name="Google Shape;350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610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 txBox="1"/>
          <p:nvPr/>
        </p:nvSpPr>
        <p:spPr>
          <a:xfrm>
            <a:off x="1666875" y="41545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https://www.simform.com/wp-content/uploads/2022/01/what-is-devops-lifecycle.png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1666875" y="44002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www.simform.com</a:t>
            </a:r>
            <a:endParaRPr/>
          </a:p>
        </p:txBody>
      </p:sp>
      <p:pic>
        <p:nvPicPr>
          <p:cNvPr id="353" name="Google Shape;353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458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 txBox="1"/>
          <p:nvPr/>
        </p:nvSpPr>
        <p:spPr>
          <a:xfrm>
            <a:off x="1666875" y="493930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https://git-scm.com/book/en/v2/images/basic-merging-1.png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1666875" y="51850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git-scm.com</a:t>
            </a:r>
            <a:endParaRPr/>
          </a:p>
        </p:txBody>
      </p:sp>
      <p:pic>
        <p:nvPicPr>
          <p:cNvPr id="356" name="Google Shape;356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29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1666875" y="57240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https://blogger.googleusercontent.com/img/a/AVvXsEh5_TXQOzr0YhTpG6E4HuLndqZsw7LCSutxqBqbfczMitUQzfUGBPu2PqBms2rmQN824qSrS9wD1IofUkjOGC7NjlzTNn6D-QKcMfyK0XCXO58i5zCKJRXfHLzCu43QmC35jA7LJ8hFITfUKOIUa2EPm1lLtX240LS5I8dn7eIapDSAOCUqZgi2VxYI=w1200-h630-p-k-no-nu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1666875" y="61678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www.etechnog.com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365" name="Google Shape;365;p2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181659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571500" y="26013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71500" y="33861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71500" y="417090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571500" y="177849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25918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571500" y="25918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571500" y="2563266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571500" y="3376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571500" y="33766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571500" y="3348037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571500" y="41613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71500" y="41613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571500" y="4132808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80" name="Google Shape;380;p29"/>
          <p:cNvSpPr/>
          <p:nvPr/>
        </p:nvSpPr>
        <p:spPr>
          <a:xfrm>
            <a:off x="571500" y="51442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571500" y="51442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571500" y="5115669"/>
            <a:ext cx="190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3498D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383" name="Google Shape;38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0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/>
          <p:nvPr/>
        </p:nvSpPr>
        <p:spPr>
          <a:xfrm>
            <a:off x="1666875" y="195947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https://dwma4bz18k1bd.cloudfront.net/tutorials/10V-Sine-Wave-Amplitude.png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1666875" y="220518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www.circuitbread.com</a:t>
            </a:r>
            <a:endParaRPr/>
          </a:p>
        </p:txBody>
      </p:sp>
      <p:pic>
        <p:nvPicPr>
          <p:cNvPr id="386" name="Google Shape;38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507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1666875" y="27442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https://cdn.sparkfun.com/assets/c/8/5/b/e/51c495ebce395f1b5a000000.png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1666875" y="29899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learn.sparkfun.com</a:t>
            </a:r>
            <a:endParaRPr/>
          </a:p>
        </p:txBody>
      </p:sp>
      <p:pic>
        <p:nvPicPr>
          <p:cNvPr id="389" name="Google Shape;38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55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/>
        </p:nvSpPr>
        <p:spPr>
          <a:xfrm>
            <a:off x="1666875" y="35290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http://www.edscave.com/images/sigchain.jpg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1666875" y="37747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www.edscave.com</a:t>
            </a:r>
            <a:endParaRPr/>
          </a:p>
        </p:txBody>
      </p:sp>
      <p:pic>
        <p:nvPicPr>
          <p:cNvPr id="392" name="Google Shape;39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194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9"/>
          <p:cNvSpPr txBox="1"/>
          <p:nvPr/>
        </p:nvSpPr>
        <p:spPr>
          <a:xfrm>
            <a:off x="1666875" y="431378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https://substackcdn.com/image/fetch/f_auto,q_auto:good,fl_progressive:steep/https%3A%2F%2Fsubstack-post-media.s3.amazonaws.com%2Fpublic%2Fimages%2Fc3e159bd-1228-4205-b1eb-5898ab9172d3_1600x856.png</a:t>
            </a:r>
            <a:endParaRPr/>
          </a:p>
        </p:txBody>
      </p:sp>
      <p:sp>
        <p:nvSpPr>
          <p:cNvPr id="394" name="Google Shape;394;p29"/>
          <p:cNvSpPr txBox="1"/>
          <p:nvPr/>
        </p:nvSpPr>
        <p:spPr>
          <a:xfrm>
            <a:off x="1666875" y="475758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www.understandingai.org</a:t>
            </a:r>
            <a:endParaRPr/>
          </a:p>
        </p:txBody>
      </p:sp>
      <p:pic>
        <p:nvPicPr>
          <p:cNvPr id="395" name="Google Shape;395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402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9"/>
          <p:cNvSpPr txBox="1"/>
          <p:nvPr/>
        </p:nvSpPr>
        <p:spPr>
          <a:xfrm>
            <a:off x="1666875" y="529664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https://static.vecteezy.com/system/resources/previews/060/657/280/non_2x/ai-assisted-industrial-work-planning-with-engineers-collaborating-in-a-smart-factory-meeting-for-project-optimization-and-safety-strategy-cartoon-isometric-vector.jpg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1666875" y="574044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1577</Words>
  <Application>Microsoft Office PowerPoint</Application>
  <PresentationFormat>Widescreen</PresentationFormat>
  <Paragraphs>171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Lato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BAMPIRE SEMAYOBERE</cp:lastModifiedBy>
  <cp:revision>1</cp:revision>
  <dcterms:modified xsi:type="dcterms:W3CDTF">2026-02-01T19:19:28Z</dcterms:modified>
</cp:coreProperties>
</file>