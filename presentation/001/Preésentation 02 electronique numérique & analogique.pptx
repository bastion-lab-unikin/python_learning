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F3E6E-8139-9A17-1987-1278CDC283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56742C-5B42-4DAE-0D22-81F7785AEB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A8EDE-B16D-2B76-9610-F61D612FC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F5A91-2BCE-4FB2-B9FE-B538EE20BE13}" type="datetimeFigureOut">
              <a:rPr lang="fr-BE" smtClean="0"/>
              <a:t>04-02-26</a:t>
            </a:fld>
            <a:endParaRPr lang="fr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8969D-9E37-2EFE-EEF6-F1C8B3FF5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6F556-CC15-E51E-1202-B4CFDCD70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DD78-7304-43DE-B23E-BDE41E3FD079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17589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9E95F-267E-C146-8366-2C7D7EA0B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E4AE5-1FC0-C988-A4EA-9DC3764F7F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2E358-E030-5104-F0DE-BF5D1FE1C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F5A91-2BCE-4FB2-B9FE-B538EE20BE13}" type="datetimeFigureOut">
              <a:rPr lang="fr-BE" smtClean="0"/>
              <a:t>04-02-26</a:t>
            </a:fld>
            <a:endParaRPr lang="fr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C31ED-22F5-1E97-BA86-8B864920B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452CB-D2A2-36CD-DFD7-D1AC70508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DD78-7304-43DE-B23E-BDE41E3FD079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86995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A4E99-BB4A-4F94-2828-33573AEB3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465FC-8EB8-4714-47A0-F86A21713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75787B-F61C-7C7F-93B2-DE207CC70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F5A91-2BCE-4FB2-B9FE-B538EE20BE13}" type="datetimeFigureOut">
              <a:rPr lang="fr-BE" smtClean="0"/>
              <a:t>04-02-26</a:t>
            </a:fld>
            <a:endParaRPr lang="fr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30D59-EF59-A287-6309-EA652CF11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5D054-DD8A-3088-80CE-1B7300EE7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DD78-7304-43DE-B23E-BDE41E3FD079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53922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EE42B-B378-5EEF-70D7-FB3D9CB3F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9D246-DFB5-C15B-AFAA-BBA12E1142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A48490-F02D-58A6-2724-1297531598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9E73F9-95B0-B506-7E03-B0EEBA560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F5A91-2BCE-4FB2-B9FE-B538EE20BE13}" type="datetimeFigureOut">
              <a:rPr lang="fr-BE" smtClean="0"/>
              <a:t>04-02-26</a:t>
            </a:fld>
            <a:endParaRPr lang="fr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C2CC31-FA94-4400-8A49-13D882B7E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56B667-C436-5A2C-9749-171A98A9B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DD78-7304-43DE-B23E-BDE41E3FD079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11247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736B4-DE86-8243-73C7-87393F91E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0A992F-4012-1626-68D0-F4BD405284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C34D7A-C0CA-5F04-9C78-987106E615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0FFFFA-3B4D-73DC-B7E2-255EFA73B1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3FE7D0-418C-70BE-7930-D33FC358C8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A8F449-2511-F43A-BF7D-9C9ED583B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F5A91-2BCE-4FB2-B9FE-B538EE20BE13}" type="datetimeFigureOut">
              <a:rPr lang="fr-BE" smtClean="0"/>
              <a:t>04-02-26</a:t>
            </a:fld>
            <a:endParaRPr lang="fr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AC378F-FE0D-702C-AA96-103DF122D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DE27F4-6372-251F-CFED-93E3698B3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DD78-7304-43DE-B23E-BDE41E3FD079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89874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6CC61-1FD4-0F5E-A165-BF8346C64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90C2FC-9CC5-9133-34E8-12C60FBD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F5A91-2BCE-4FB2-B9FE-B538EE20BE13}" type="datetimeFigureOut">
              <a:rPr lang="fr-BE" smtClean="0"/>
              <a:t>04-02-26</a:t>
            </a:fld>
            <a:endParaRPr lang="fr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954F12-FBBD-1EAA-46FD-3EF2D7B66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63648A-C825-570C-76C4-2CF6C5678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DD78-7304-43DE-B23E-BDE41E3FD079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17780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F77DEA-529C-FEAF-37DA-C7B1BD234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F5A91-2BCE-4FB2-B9FE-B538EE20BE13}" type="datetimeFigureOut">
              <a:rPr lang="fr-BE" smtClean="0"/>
              <a:t>04-02-26</a:t>
            </a:fld>
            <a:endParaRPr lang="fr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F68313-5D9D-7AEC-1A3D-1FB8251D6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65D35A-024F-E9C2-19B0-DCA649A98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DD78-7304-43DE-B23E-BDE41E3FD079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785986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F335C-3405-FBEC-0EDA-B2C0C84A2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6A5E5-A1CD-0E40-51D2-EB87B1AFD7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A7EE0B-6F91-9CE7-1C18-5056D0F0C6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455B5E-6DFA-39F2-3914-CC6DAB64A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F5A91-2BCE-4FB2-B9FE-B538EE20BE13}" type="datetimeFigureOut">
              <a:rPr lang="fr-BE" smtClean="0"/>
              <a:t>04-02-26</a:t>
            </a:fld>
            <a:endParaRPr lang="fr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F432CC-F530-D1C6-9857-CCEF44783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CFB188-E00A-FD8E-761B-80BC1A0BC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DD78-7304-43DE-B23E-BDE41E3FD079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64027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B9033-798A-8730-44DE-F25F053D2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1F081F-FC77-319C-F6AE-F20FC37D67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03E259-5B9D-62F3-5583-E7613C0C1C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3EB432-14A7-094B-EB67-1579095ED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F5A91-2BCE-4FB2-B9FE-B538EE20BE13}" type="datetimeFigureOut">
              <a:rPr lang="fr-BE" smtClean="0"/>
              <a:t>04-02-26</a:t>
            </a:fld>
            <a:endParaRPr lang="fr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29DDBA-0388-D1A4-73B3-875AF0BD2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58710D-DD1E-112D-9F12-49105A899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DD78-7304-43DE-B23E-BDE41E3FD079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370593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78255-D0C7-CBD8-6A0D-813EBAEC5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E25A95-0A51-0851-1F02-D82119D372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FAD54-69DA-8CD1-F36F-8A9C348C8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F5A91-2BCE-4FB2-B9FE-B538EE20BE13}" type="datetimeFigureOut">
              <a:rPr lang="fr-BE" smtClean="0"/>
              <a:t>04-02-26</a:t>
            </a:fld>
            <a:endParaRPr lang="fr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1158E-2CD3-4DE6-E7DA-ED410CBD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F4B1C-D9BD-2F40-0B2D-82F5F69A5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DD78-7304-43DE-B23E-BDE41E3FD079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31689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224281-A736-7D3F-8D6D-F2D32DBA75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24575C-80AA-7C6A-C9F8-3FBEFAE289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C3BA48-FE27-4447-E4F0-87052254C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F5A91-2BCE-4FB2-B9FE-B538EE20BE13}" type="datetimeFigureOut">
              <a:rPr lang="fr-BE" smtClean="0"/>
              <a:t>04-02-26</a:t>
            </a:fld>
            <a:endParaRPr lang="fr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5D9B8-6E21-9D61-A5AD-A5376E139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6E2E0-E4CA-AAC0-41F8-7299B0B47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DD78-7304-43DE-B23E-BDE41E3FD079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178259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F80C7C-3789-0753-6C2C-C3EF4C3BF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9E04B9-A6EC-66BA-E22B-905431DA3E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F8A7B-BAFB-404C-7BAC-F6719D4FB1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AF5A91-2BCE-4FB2-B9FE-B538EE20BE13}" type="datetimeFigureOut">
              <a:rPr lang="fr-BE" smtClean="0"/>
              <a:t>04-02-26</a:t>
            </a:fld>
            <a:endParaRPr lang="fr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6402FF-D3DE-EF5E-DB75-1369855BF9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3E5828-61AA-7F46-C00B-96907805DE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73DD78-7304-43DE-B23E-BDE41E3FD079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978678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60760F4-E18B-2EEF-3A6F-4A82ED186A1D}"/>
              </a:ext>
            </a:extLst>
          </p:cNvPr>
          <p:cNvSpPr txBox="1"/>
          <p:nvPr/>
        </p:nvSpPr>
        <p:spPr>
          <a:xfrm>
            <a:off x="2935255" y="305192"/>
            <a:ext cx="53503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BE" sz="24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PARTIE 2 : Circuits Analogiques </a:t>
            </a:r>
          </a:p>
          <a:p>
            <a:pPr algn="ctr"/>
            <a:r>
              <a:rPr lang="fr-BE" sz="24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vs </a:t>
            </a:r>
          </a:p>
          <a:p>
            <a:pPr algn="ctr"/>
            <a:r>
              <a:rPr lang="fr-BE" sz="24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Numériques </a:t>
            </a:r>
            <a:endParaRPr lang="fr-BE" sz="2400" dirty="0">
              <a:latin typeface="Century Gothic" panose="020B0502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B807CE-8654-7AF7-0F26-1796164CD4A9}"/>
              </a:ext>
            </a:extLst>
          </p:cNvPr>
          <p:cNvSpPr txBox="1"/>
          <p:nvPr/>
        </p:nvSpPr>
        <p:spPr>
          <a:xfrm>
            <a:off x="865414" y="2644834"/>
            <a:ext cx="6097554" cy="2567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BE" sz="2400" b="1" i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 aux circuits électroniques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fr-BE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Deux grandes catégories :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fr-B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Circuits </a:t>
            </a:r>
            <a:r>
              <a:rPr lang="fr-BE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analogiques</a:t>
            </a:r>
            <a:endParaRPr lang="fr-BE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fr-B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Circuits </a:t>
            </a:r>
            <a:r>
              <a:rPr lang="fr-BE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numériques</a:t>
            </a:r>
            <a:endParaRPr lang="fr-BE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Base de tous les systèmes électroniques modernes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73A53BC-52F5-EC85-8D25-B31732EBF5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883160"/>
            <a:ext cx="5686026" cy="2244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707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5CA70-C708-AEF0-7694-AC36EC83E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AE7DEC1-69CB-4940-7F62-A92BC48640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654775"/>
            <a:ext cx="5762625" cy="38385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56704B3-21B9-09DA-13EE-E86E1BCDA66E}"/>
              </a:ext>
            </a:extLst>
          </p:cNvPr>
          <p:cNvSpPr txBox="1"/>
          <p:nvPr/>
        </p:nvSpPr>
        <p:spPr>
          <a:xfrm>
            <a:off x="1117341" y="1364650"/>
            <a:ext cx="6097554" cy="3359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BE" sz="2400" i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Définition</a:t>
            </a:r>
            <a:r>
              <a:rPr lang="fr-BE" sz="24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: </a:t>
            </a:r>
            <a:r>
              <a:rPr lang="fr-BE" sz="2400" b="1" dirty="0">
                <a:solidFill>
                  <a:srgbClr val="FF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Circuit Analogique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fr-BE" sz="24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Traite des </a:t>
            </a:r>
            <a:r>
              <a:rPr lang="fr-BE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signaux continus</a:t>
            </a:r>
            <a:endParaRPr lang="fr-BE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 tension varie de manière progressive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Exemples :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BE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Amplificateur audio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BE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Capteur de température</a:t>
            </a:r>
          </a:p>
          <a:p>
            <a:pPr>
              <a:buNone/>
            </a:pPr>
            <a:r>
              <a:rPr lang="fr-BE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Radio analogique</a:t>
            </a:r>
            <a:endParaRPr lang="fr-BE" sz="32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5088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DF04E-1F62-7937-80E8-09F1907F7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100517-9421-9C64-18C6-C27D39912B7E}"/>
              </a:ext>
            </a:extLst>
          </p:cNvPr>
          <p:cNvSpPr txBox="1"/>
          <p:nvPr/>
        </p:nvSpPr>
        <p:spPr>
          <a:xfrm>
            <a:off x="1059802" y="1120129"/>
            <a:ext cx="6097554" cy="3300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BE" sz="2400" i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Définition</a:t>
            </a:r>
            <a:r>
              <a:rPr lang="fr-BE" sz="2400" b="1" i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: </a:t>
            </a:r>
            <a:r>
              <a:rPr lang="fr-BE" sz="2400" b="1" dirty="0">
                <a:solidFill>
                  <a:schemeClr val="accent2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Circuit Numérique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fr-BE" sz="20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Traite des </a:t>
            </a:r>
            <a:r>
              <a:rPr lang="fr-BE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signaux discrets (0 et 1)</a:t>
            </a:r>
            <a:endParaRPr lang="fr-BE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Basé sur la logique binaire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Exemples :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BE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Microcontrôleurs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BE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Ordinateurs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BE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Circuits logiques (portes AND, OR…)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249E60-8F25-3BC1-5A99-8CB1E71CA4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7900" y="2139140"/>
            <a:ext cx="4334524" cy="2404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736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02A69-263C-48E8-F8D9-C3FA118EB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445A1AB-5004-A704-9A56-662E54545D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2785696"/>
              </p:ext>
            </p:extLst>
          </p:nvPr>
        </p:nvGraphicFramePr>
        <p:xfrm>
          <a:off x="894184" y="2971006"/>
          <a:ext cx="10515600" cy="2559304"/>
        </p:xfrm>
        <a:graphic>
          <a:graphicData uri="http://schemas.openxmlformats.org/drawingml/2006/table">
            <a:tbl>
              <a:tblPr firstRow="1" firstCol="1" bandRow="1">
                <a:tableStyleId>{5FD0F851-EC5A-4D38-B0AD-8093EC10F338}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91529192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02944837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9687173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BE" sz="2000" dirty="0">
                          <a:effectLst/>
                          <a:latin typeface="Century Gothic" panose="020B0502020202020204" pitchFamily="34" charset="0"/>
                        </a:rPr>
                        <a:t>Critère</a:t>
                      </a:r>
                      <a:endParaRPr lang="fr-BE" sz="2000" dirty="0"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BE" sz="2000">
                          <a:effectLst/>
                          <a:latin typeface="Century Gothic" panose="020B0502020202020204" pitchFamily="34" charset="0"/>
                        </a:rPr>
                        <a:t>Analogique</a:t>
                      </a:r>
                      <a:endParaRPr lang="fr-BE" sz="2000"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BE" sz="2000">
                          <a:effectLst/>
                          <a:latin typeface="Century Gothic" panose="020B0502020202020204" pitchFamily="34" charset="0"/>
                        </a:rPr>
                        <a:t>Numérique</a:t>
                      </a:r>
                      <a:endParaRPr lang="fr-BE" sz="2000"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116053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BE" sz="2000" dirty="0">
                          <a:effectLst/>
                          <a:latin typeface="Century Gothic" panose="020B0502020202020204" pitchFamily="34" charset="0"/>
                        </a:rPr>
                        <a:t>Signal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fr-BE" sz="2000" dirty="0"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BE" sz="2000" dirty="0">
                          <a:effectLst/>
                          <a:latin typeface="Century Gothic" panose="020B0502020202020204" pitchFamily="34" charset="0"/>
                        </a:rPr>
                        <a:t>Continu</a:t>
                      </a:r>
                      <a:endParaRPr lang="fr-BE" sz="2000" dirty="0"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BE" sz="2000">
                          <a:effectLst/>
                          <a:latin typeface="Century Gothic" panose="020B0502020202020204" pitchFamily="34" charset="0"/>
                        </a:rPr>
                        <a:t>Discret</a:t>
                      </a:r>
                      <a:endParaRPr lang="fr-BE" sz="2000"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840283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BE" sz="2000" dirty="0">
                          <a:effectLst/>
                          <a:latin typeface="Century Gothic" panose="020B0502020202020204" pitchFamily="34" charset="0"/>
                        </a:rPr>
                        <a:t>Sensibilité au bruit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fr-BE" sz="2000" dirty="0"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BE" sz="2000" dirty="0">
                          <a:effectLst/>
                          <a:latin typeface="Century Gothic" panose="020B0502020202020204" pitchFamily="34" charset="0"/>
                        </a:rPr>
                        <a:t>Élevée</a:t>
                      </a:r>
                      <a:endParaRPr lang="fr-BE" sz="2000" dirty="0"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BE" sz="2000">
                          <a:effectLst/>
                          <a:latin typeface="Century Gothic" panose="020B0502020202020204" pitchFamily="34" charset="0"/>
                        </a:rPr>
                        <a:t>Faible</a:t>
                      </a:r>
                      <a:endParaRPr lang="fr-BE" sz="2000"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23970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BE" sz="2000" dirty="0">
                          <a:effectLst/>
                          <a:latin typeface="Century Gothic" panose="020B0502020202020204" pitchFamily="34" charset="0"/>
                        </a:rPr>
                        <a:t>Précision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fr-BE" sz="2000" dirty="0"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BE" sz="2000">
                          <a:effectLst/>
                          <a:latin typeface="Century Gothic" panose="020B0502020202020204" pitchFamily="34" charset="0"/>
                        </a:rPr>
                        <a:t>Dépend des composants</a:t>
                      </a:r>
                      <a:endParaRPr lang="fr-BE" sz="2000"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BE" sz="2000" dirty="0">
                          <a:effectLst/>
                          <a:latin typeface="Century Gothic" panose="020B0502020202020204" pitchFamily="34" charset="0"/>
                        </a:rPr>
                        <a:t>Très élevée</a:t>
                      </a:r>
                      <a:endParaRPr lang="fr-BE" sz="2000" dirty="0"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19448542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B5CFAB3C-322B-A365-7D06-C5304791C1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5344" y="1364703"/>
            <a:ext cx="47083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BE" altLang="fr-FR" sz="2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DIFFÉRENCES FONDAMENTALES</a:t>
            </a:r>
            <a:endParaRPr kumimoji="0" lang="fr-BE" altLang="fr-FR" sz="40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3587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74B81-E2E1-7768-64EC-7858474AF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FFDA99-E8BB-0C42-9EE2-F75A3EE7B593}"/>
              </a:ext>
            </a:extLst>
          </p:cNvPr>
          <p:cNvSpPr txBox="1"/>
          <p:nvPr/>
        </p:nvSpPr>
        <p:spPr>
          <a:xfrm>
            <a:off x="1247969" y="1052909"/>
            <a:ext cx="6962969" cy="4552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BE" sz="2400" b="1" dirty="0">
                <a:solidFill>
                  <a:schemeClr val="accent2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Complexité</a:t>
            </a:r>
            <a:r>
              <a:rPr lang="fr-BE" sz="2400" b="1" dirty="0">
                <a:solidFill>
                  <a:schemeClr val="accent6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et </a:t>
            </a:r>
            <a:r>
              <a:rPr lang="fr-BE" sz="2400" b="1" dirty="0">
                <a:solidFill>
                  <a:srgbClr val="FF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applications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fr-BE" sz="24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b="1" u="sng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Analogique</a:t>
            </a:r>
            <a:endParaRPr lang="fr-BE" u="sng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fr-BE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Conception délicate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fr-BE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Sensible aux perturbations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endParaRPr lang="fr-BE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b="1" u="sng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Numérique</a:t>
            </a:r>
            <a:endParaRPr lang="fr-BE" u="sng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fr-BE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Plus robuste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fr-BE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Facilement programmable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endParaRPr lang="fr-BE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Systèmes modernes = </a:t>
            </a:r>
            <a:r>
              <a:rPr lang="fr-BE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hybrides (analogique + numérique)</a:t>
            </a:r>
            <a:endParaRPr lang="fr-BE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8C8521-B830-4B9D-FBDC-A5C37B3A4F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4033" y="2192694"/>
            <a:ext cx="5686026" cy="2620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571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</TotalTime>
  <Words>123</Words>
  <Application>Microsoft Office PowerPoint</Application>
  <PresentationFormat>Widescreen</PresentationFormat>
  <Paragraphs>49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Arial</vt:lpstr>
      <vt:lpstr>Calibri</vt:lpstr>
      <vt:lpstr>Calibri Light</vt:lpstr>
      <vt:lpstr>Century Gothic</vt:lpstr>
      <vt:lpstr>Courier New</vt:lpstr>
      <vt:lpstr>Symbol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muyayaetienne049@outlook.fr</dc:creator>
  <cp:lastModifiedBy>muyayaetienne049@outlook.fr</cp:lastModifiedBy>
  <cp:revision>1</cp:revision>
  <dcterms:created xsi:type="dcterms:W3CDTF">2026-02-04T15:35:17Z</dcterms:created>
  <dcterms:modified xsi:type="dcterms:W3CDTF">2026-02-04T22:13:08Z</dcterms:modified>
</cp:coreProperties>
</file>